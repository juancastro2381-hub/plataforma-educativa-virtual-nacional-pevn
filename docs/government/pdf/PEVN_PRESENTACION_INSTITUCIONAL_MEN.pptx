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63554"/>
          </a:solidFill>
          <a:ln w="19050"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C59B27"/>
                </a:solidFill>
              </a:defRPr>
            </a:pPr>
            <a:r>
              <a:t>REPÚBLICA DE COLOMBIA • SECTOR EDUCATIVO OFICIAL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Plataforma Educativa Virtual Nacional (PEVN)</a:t>
            </a:r>
          </a:p>
          <a:p>
            <a:pPr>
              <a:spcAft>
                <a:spcPts val="1800"/>
              </a:spcAft>
              <a:defRPr sz="1700">
                <a:solidFill>
                  <a:srgbClr val="BED7F0"/>
                </a:solidFill>
              </a:defRPr>
            </a:pPr>
            <a:r>
              <a:t>Presentación Institucional y Dossier Técnico de Ingeniería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Sesión de Trabajo con la Oficina de Tecnología y Sistemas de Información</a:t>
            </a:r>
            <a:br/>
            <a:r>
              <a:t>Ministerio de Educación Nacional (MEN)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4805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A0B9D2"/>
                </a:solidFill>
              </a:defRPr>
            </a:pPr>
            <a:r>
              <a:t>Autor / Iniciativa Técnica: Juan Carlos Castro Narváez | Versión: 1.0-FINAL-MEN | Octubre 2026</a:t>
            </a:r>
            <a:br/>
            <a:r>
              <a:t>Nota: Iniciativa técnica independiente. No constituye aprobación, contrato ni certificación previa del MEN.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Resumen Ejecutivo de la Iniciativa PEVN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Propósito Público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Soberanía Tecnológica:</a:t>
            </a:r>
            <a:r>
              <a:rPr b="0"/>
              <a:t> Ecosistema digital abierto concebido para superar la fragmentación de software y el cobro recurrente por estudiante en colegios oficiales.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Equidad Territorial:</a:t>
            </a:r>
            <a:r>
              <a:rPr b="0"/>
              <a:t> Diseñado para brindar capacidades de gestión de calidad equivalente a instituciones rurales y urbanas.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Bien Público Digital:</a:t>
            </a:r>
            <a:r>
              <a:rPr b="0"/>
              <a:t> Código fuente auditable bajo licencia abierta (Apache 2.0 / AGPLv3).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Solución Técnica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Arquitectura Desacoplada:</a:t>
            </a:r>
            <a:r>
              <a:rPr b="0"/>
              <a:t> Frontend SPA en React 18/TypeScript (Vite) + Backend asíncrono en FastAPI (Python 3.12/3.14).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Persistencia y Sesiones:</a:t>
            </a:r>
            <a:r>
              <a:rPr b="0"/>
              <a:t> PostgreSQL 15 con aislamiento multi-tenant forzado + Redis 7 para revocación instantánea de JWT.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Modelo y Estándares:</a:t>
            </a:r>
            <a:r>
              <a:rPr b="0"/>
              <a:t> Jerarquía canónica de 9 roles (11 en BD). Catálogo DANE precargado (18,031 colegios, 51,521 sedes; no implica adopción).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Evidencia y Validación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Censo Dinámico (R8):</a:t>
            </a:r>
            <a:r>
              <a:rPr b="0"/>
              <a:t> 747 pruebas recolectadas en 72 archivos de prueba.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Pruebas Ejecutadas:</a:t>
            </a:r>
            <a:r>
              <a:rPr b="0"/>
              <a:t> 57 pruebas focalizadas con 100% PASS en ciclo acotado (teardown seguro, analizador y aprovisionamiento).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Ruta hacia Piloto:</a:t>
            </a:r>
            <a:r>
              <a:rPr b="0"/>
              <a:t> Propuesta de trabajo en 4 fases con compuertas de decisión técnica (Decision Gates) bajo rectoría del MEN.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Diagnóstico del Problema en el Sector Oficial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1. Fragmentación y Silos de Datos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Planillas Desarticuladas:</a:t>
            </a:r>
            <a:r>
              <a:rPr b="0"/>
              <a:t> Notas y asistencia llevadas en hojas de cálculo locales o libretas en papel sin consolidación central.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Riesgo de Pérdida:</a:t>
            </a:r>
            <a:r>
              <a:rPr b="0"/>
              <a:t> Falta de respaldos automáticos y trazabilidad de cambios en notas ante quejas o auditorías.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2. Dependencia Financiera Privativa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Cobro por Licenciamiento:</a:t>
            </a:r>
            <a:r>
              <a:rPr b="0"/>
              <a:t> Sistemas comerciales que cobran costos recurrentes por alumno, asfixiando presupuestos territoriales.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Bloqueo de Proveedor (Vendor Lock-in):</a:t>
            </a:r>
            <a:r>
              <a:rPr b="0"/>
              <a:t> Dificultad extrema para extraer históricos de calificaciones al terminar contratos.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9651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3. Brecha de Conectividad Rural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Sistemas Comerciales Pesados:</a:t>
            </a:r>
            <a:r>
              <a:rPr b="0"/>
              <a:t> Plataformas saturadas de librerías de rastreo y fuentes externas que colapsan con enlaces rurales de 2 Mbps.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Inequidad Operativa:</a:t>
            </a:r>
            <a:r>
              <a:rPr b="0"/>
              <a:t> Sedes rurales apartadas quedan excluidas del seguimiento digital pedagógico.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9651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4. Soberanía y Gobernanza de Datos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Datos de Menores en Nubes Foráneas:</a:t>
            </a:r>
            <a:r>
              <a:rPr b="0"/>
              <a:t> Información confidencial de niños y adolescentes tratada sin supervisión directa del Estado.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Desalineación Normativa:</a:t>
            </a:r>
            <a:r>
              <a:rPr b="0"/>
              <a:t> Incompatibilidad con Ley 1581 de 2012 y lineamientos de Gobierno Digital.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Visión, Misión y Creación de Valor Público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Misión y Visión Estratégica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Misión:</a:t>
            </a:r>
            <a:r>
              <a:rPr b="0"/>
              <a:t> Proveer al sistema educativo oficial de Colombia una infraestructura digital soberana, auditable y de alto rendimiento que unifique los procesos directivos, pedagógicos y comunitarios.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Visión:</a:t>
            </a:r>
            <a:r>
              <a:rPr b="0"/>
              <a:t> Consolidar a PEVN como el Bien Público Digital de referencia para la educación pública nacional, reduciendo a cero el costo marginal de gestión escolar por estudiante.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Alineación Institucional:</a:t>
            </a:r>
            <a:r>
              <a:rPr b="0"/>
              <a:t> Armonizado con las metas del Plan Nacional de Desarrollo en materia de transformación digital educativa y cierre de brechas urbano-rurales.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Dimensiones de Valor Público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Ahorro Presupuestal Sostenible:</a:t>
            </a:r>
            <a:r>
              <a:rPr b="0"/>
              <a:t> Eliminación de pagos recurrentes de licenciamiento privativo en Secretarías de Educación.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Soberanía de Datos Nacional:</a:t>
            </a:r>
            <a:r>
              <a:rPr b="0"/>
              <a:t> Residencia de datos en centros de datos del Estado o nubes gubernamentales bajo Ley 1581 de 2012.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Continuidad y Resiliencia Escolar:</a:t>
            </a:r>
            <a:r>
              <a:rPr b="0"/>
              <a:t> Capacidad de mantener seguimiento evaluativo y comunicación durante emergencias o cierres viales.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Transparencia y Cero Fraude:</a:t>
            </a:r>
            <a:r>
              <a:rPr b="0"/>
              <a:t> Registro inmutable de cada calificación con marca de tiempo UTC y usuario responsable.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Alcance del Proyecto: Inclusiones y Exclusiones Taxativas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5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Capacidades Incluidas en el Alcance Actual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Aprovisionamiento Territorial e Institucional:</a:t>
            </a:r>
            <a:r>
              <a:rPr b="0"/>
              <a:t> Creación de sedes bajo códigos oficiales DANE.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Activación Criptográfica de Rectores:</a:t>
            </a:r>
            <a:r>
              <a:rPr b="0"/>
              <a:t> Invitaciones con token firmado HMAC y expiración de 72 horas.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Parametrización Curricular:</a:t>
            </a:r>
            <a:r>
              <a:rPr b="0"/>
              <a:t> Años lectivos, periodos, grados, grupos y asignación académica docente.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Gestión Evaluativa:</a:t>
            </a:r>
            <a:r>
              <a:rPr b="0"/>
              <a:t> Planilla interactiva de notas con ponderación porcentual y control de asistencia.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Portales de Autoservicio:</a:t>
            </a:r>
            <a:r>
              <a:rPr b="0"/>
              <a:t> Vistas seguras para Estudiantes y Acudientes protegidas contra IDOR.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Orquestación de Aulas Virtuales:</a:t>
            </a:r>
            <a:r>
              <a:rPr b="0"/>
              <a:t> Cliente API para salas BigBlueButton con tokens seguros.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991B1B"/>
                </a:solidFill>
              </a:defRPr>
            </a:pPr>
            <a:r>
              <a:t>Exclusiones Taxativas (Non-Goals)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es un Sustituto Legal del SIMAT:</a:t>
            </a:r>
            <a:r>
              <a:rPr b="0"/>
              <a:t> No reemplaza la potestad del MEN sobre el registro oficial de matrícula; actúa como plataforma operativa complementaria.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es Proveedor de Infraestructura Física:</a:t>
            </a:r>
            <a:r>
              <a:rPr b="0"/>
              <a:t> Optimiza el tráfico de red, pero no suministra antenas, enlaces satelitales ni fibra óptica.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es Entidad de Certificación Académica:</a:t>
            </a:r>
            <a:r>
              <a:rPr b="0"/>
              <a:t> La validez de certificados y títulos corresponde por ley a cada Institución y Secretaría de Educación.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Aloja Clúster WebRTC Embebido:</a:t>
            </a:r>
            <a:r>
              <a:rPr b="0"/>
              <a:t> La transmisión multimedia en vivo requiere la infraestructura BigBlueButton externa descrita.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Jerarquía Canónica RBAC (9 Roles) y Modelo de Autoridad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4864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Catálogo Canónico de 9 Roles (11 Identificadores en BD)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[100] superadmin:</a:t>
            </a:r>
            <a:r>
              <a:rPr b="0"/>
              <a:t> Operador técnico de plataforma e infraestructura.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[90] national_admin:</a:t>
            </a:r>
            <a:r>
              <a:rPr b="0"/>
              <a:t> Administrador Nacional MEN y gobierno general.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[80] department_admin:</a:t>
            </a:r>
            <a:r>
              <a:rPr b="0"/>
              <a:t> Secretaría de Educación Departamental.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[70] municipality_admin:</a:t>
            </a:r>
            <a:r>
              <a:rPr b="0"/>
              <a:t> Secretaría de Educación Municipal.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[60] rector:</a:t>
            </a:r>
            <a:r>
              <a:rPr b="0"/>
              <a:t> Rector / Director Institucional (Alias técnico: institution_admin).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[50] coordinator:</a:t>
            </a:r>
            <a:r>
              <a:rPr b="0"/>
              <a:t> Coordinador Académico / Sede (Alias técnico: academic_coordinator).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[30] teacher:</a:t>
            </a:r>
            <a:r>
              <a:rPr b="0"/>
              <a:t> Docente de aula y registro evaluativo.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[10] student:</a:t>
            </a:r>
            <a:r>
              <a:rPr b="0"/>
              <a:t> Estudiante matriculado (SIMAT).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[10] guardian:</a:t>
            </a:r>
            <a:r>
              <a:rPr b="0"/>
              <a:t> Acudiente / Tutor legal civil.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63040"/>
            <a:ext cx="493776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27632"/>
            <a:ext cx="45720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Fronteras de Autoridad y Excepción Aprobada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Cadena Canónica Aprobada:</a:t>
            </a:r>
            <a:r>
              <a:rPr b="0"/>
              <a:t>
SUPERADMIN → NATIONAL_ADMIN → DEPARTMENT_ADMIN → MUNICIPALITY_ADMIN → RECTOR → COORDINATOR → TEACHER / STUDENT → GUARDIAN.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Aislamiento Territorial Forzado:</a:t>
            </a:r>
            <a:r>
              <a:rPr b="0"/>
              <a:t> Ninguna autoridad puede cruzar fronteras departamentales o municipales DANE.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Excepción Canónica de Coordinador:</a:t>
            </a:r>
            <a:r>
              <a:rPr b="0"/>
              <a:t> Por regla general, los coordinadores no crean usuarios. No obstante, mediante la directiva institucional persistida (`coordinator_delegated_provisioning_enabled`):
• </a:t>
            </a:r>
            <a:r>
              <a:rPr b="1">
                <a:solidFill>
                  <a:srgbClr val="0F2942"/>
                </a:solidFill>
              </a:rPr>
              <a:t>Si está inhabilitada (Default):</a:t>
            </a:r>
            <a:r>
              <a:rPr b="0"/>
              <a:t> Creación bloqueada (HTTP 403 `COORDINATOR_DELEGATION_DISABLED`).
• </a:t>
            </a:r>
            <a:r>
              <a:rPr b="1">
                <a:solidFill>
                  <a:srgbClr val="0F2942"/>
                </a:solidFill>
              </a:rPr>
              <a:t>Si el Rector la habilita:</a:t>
            </a:r>
            <a:r>
              <a:rPr b="0"/>
              <a:t> El coordinador puede crear docentes, matricular estudiantes y vincular acudientes en su sede.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Arquitectura Funcional y Módulos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Módulo Territorial / DANE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Codificación Nacional:</a:t>
            </a:r>
            <a:r>
              <a:rPr b="0"/>
              <a:t> Integración nativa de DIVIPOLA y Directorio DUE.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Aislamiento:</a:t>
            </a:r>
            <a:r>
              <a:rPr b="0"/>
              <a:t> Filtrado multi-tenant estricto desde la raíz administrativa.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Aprovisionamiento Directivo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Invitaciones Criptográficas:</a:t>
            </a:r>
            <a:r>
              <a:rPr b="0"/>
              <a:t> Tokens temporales con firma HMAC de 72h.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Activación Autónoma:</a:t>
            </a:r>
            <a:r>
              <a:rPr b="0"/>
              <a:t> El rector valida cédula y activa credenciales seguras.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Gestión Curricular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Estructura Académica:</a:t>
            </a:r>
            <a:r>
              <a:rPr b="0"/>
              <a:t> Sedes, jornadas, grados, grupos y asignaturas.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Carga Docente:</a:t>
            </a:r>
            <a:r>
              <a:rPr b="0"/>
              <a:t> Vinculación de profesores a asignaturas y cursos.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Evaluación y Asistencia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Planilla Docente:</a:t>
            </a:r>
            <a:r>
              <a:rPr b="0"/>
              <a:t> Notas numéricas (1.0-5.0), ponderación y faltas.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Consolidación:</a:t>
            </a:r>
            <a:r>
              <a:rPr b="0"/>
              <a:t> Cálculo automático de promedios de periodo.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Portales Estudiantil / Familia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Consultas Seguras:</a:t>
            </a:r>
            <a:r>
              <a:rPr b="0"/>
              <a:t> Acceso a boletín y faltas protegido anti-IDOR.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Acompañamiento:</a:t>
            </a:r>
            <a:r>
              <a:rPr b="0"/>
              <a:t> Visualización de observaciones pedagógicas.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Aulas Virtuales y Auditoría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BigBlueButton:</a:t>
            </a:r>
            <a:r>
              <a:rPr b="0"/>
              <a:t> Creación de salas seguras con clave de moderador.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Pista Forense:</a:t>
            </a:r>
            <a:r>
              <a:rPr b="0"/>
              <a:t> Registro inmutable de transacciones con IP y UTC.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Flujos Educativos Verificados en Código Fuente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1. Aprovisionamiento Institucional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Solicitud:</a:t>
            </a:r>
            <a:r>
              <a:rPr b="0"/>
              <a:t> Secretaría ingresa código DANE y correo del Rector.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Token Seguro:</a:t>
            </a:r>
            <a:r>
              <a:rPr b="0"/>
              <a:t> Backend genera token UUID v4 firmado con HMAC.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Notificación:</a:t>
            </a:r>
            <a:r>
              <a:rPr b="0"/>
              <a:t> Se despacha enlace con vigencia de 72 horas.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Activación:</a:t>
            </a:r>
            <a:r>
              <a:rPr b="0"/>
              <a:t> Rector valida documento de identidad y define clave.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5. Vinculación:</a:t>
            </a:r>
            <a:r>
              <a:rPr b="0"/>
              <a:t> Sistema ata al Rector con el `institution_id`.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2. Ciclo Pedagógico y Notas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Carga Académica:</a:t>
            </a:r>
            <a:r>
              <a:rPr b="0"/>
              <a:t> Docente autenticado visualiza solo sus cursos.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Registro:</a:t>
            </a:r>
            <a:r>
              <a:rPr b="0"/>
              <a:t> Ingreso de notas (1.0 a 5.0) y faltas por sesión.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Validación:</a:t>
            </a:r>
            <a:r>
              <a:rPr b="0"/>
              <a:t> Backend comprueba rangos y asignación curricular.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Persistencia ACID:</a:t>
            </a:r>
            <a:r>
              <a:rPr b="0"/>
              <a:t> Transacción segura en PostgreSQL.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5. Auditoría:</a:t>
            </a:r>
            <a:r>
              <a:rPr b="0"/>
              <a:t> Creación de registro en `AuditLog` con timestamp UTC.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3. Consulta Protegida (Anti-IDOR)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Petición:</a:t>
            </a:r>
            <a:r>
              <a:rPr b="0"/>
              <a:t> Alumno solicita reporte de calificaciones.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Extracción:</a:t>
            </a:r>
            <a:r>
              <a:rPr b="0"/>
              <a:t> Backend extrae `student_id` del token JWT verificado.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Bloqueo:</a:t>
            </a:r>
            <a:r>
              <a:rPr b="0"/>
              <a:t> Si el alumno altera el ID en la URL para ver a otro estudiante, la API devuelve HTTP 403 o 404.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Privacidad:</a:t>
            </a:r>
            <a:r>
              <a:rPr b="0"/>
              <a:t> Cero fugas de información personal o notas ajenas.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Gobernanza Territorial: Catálogo DANE/DIVIPOLA (DUE 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Catálogo Maestro de Referencia (DUE 2024)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33 Entidades Territoriales:</a:t>
            </a:r>
            <a:r>
              <a:rPr b="0"/>
              <a:t> 32 departamentos y Bogotá D.C., conforme a DIVIPOLA oficial.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1,122 Municipios:</a:t>
            </a:r>
            <a:r>
              <a:rPr b="0"/>
              <a:t> Codificación DANE oficial (1,119 con cobertura de sedes en censo).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18,031 Establecimientos Educativos:</a:t>
            </a:r>
            <a:r>
              <a:rPr b="0"/>
              <a:t> Cosechados de SODA cfw5-qzt5 (DUE 2024, 17,990 censados + 41 calibración).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51,521 Sedes Físicas Activas:</a:t>
            </a:r>
            <a:r>
              <a:rPr b="0"/>
              <a:t> SODA 96t6-cfw4 (50,107 activas + 1,364 sedes principales + 50 semilla).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Valor Estratégico y Aclaración de Adopción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Aprovisionamiento Instantáneo:</a:t>
            </a:r>
            <a:r>
              <a:rPr b="0"/>
              <a:t> Validación automática por código DANE de 12 dígitos sin migración manual.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Consolidación Estadística:</a:t>
            </a:r>
            <a:r>
              <a:rPr b="0"/>
              <a:t> Agregación territorial limpia sin riesgo de duplicados o solapamientos.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Aclaración Institucional Mandatoria:</a:t>
            </a:r>
            <a:r>
              <a:rPr b="0"/>
              <a:t> Las cifras anteriores corresponden al </a:t>
            </a:r>
            <a:r>
              <a:rPr b="1">
                <a:solidFill>
                  <a:srgbClr val="0F2942"/>
                </a:solidFill>
              </a:rPr>
              <a:t>catálogo de referencia precargado</a:t>
            </a:r>
            <a:r>
              <a:rPr b="0"/>
              <a:t> para habilitar la activación directiva.
• </a:t>
            </a:r>
            <a:r>
              <a:rPr b="1">
                <a:solidFill>
                  <a:srgbClr val="0F2942"/>
                </a:solidFill>
              </a:rPr>
              <a:t>NO representan adopción operativa actual</a:t>
            </a:r>
            <a:r>
              <a:rPr b="0"/>
              <a:t> ni colegios en producción.
• En la base operacional (`institutions`), existen actualmente 32 colegios de prueba/laboratorio (29 activos).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Experiencias de Usuario: Directivos, Docentes y Comunidad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Rector / Director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Tablero Institucional:</a:t>
            </a:r>
            <a:r>
              <a:rPr b="0"/>
              <a:t> Estadísticas de matrícula, sedes y docentes.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Gobernanza:</a:t>
            </a:r>
            <a:r>
              <a:rPr b="0"/>
              <a:t> Creación de calendarios y políticas de delegación.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Coordinador Académico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Gestión Operativa:</a:t>
            </a:r>
            <a:r>
              <a:rPr b="0"/>
              <a:t> Armado de grupos, asignación de cursos y horarios.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Supervisión:</a:t>
            </a:r>
            <a:r>
              <a:rPr b="0"/>
              <a:t> Cierre y consolidación de periodos de notas.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Docente de Aula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Planilla Ágil:</a:t>
            </a:r>
            <a:r>
              <a:rPr b="0"/>
              <a:t> Registro de notas y control de asistencia diario.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Aulas Virtuales:</a:t>
            </a:r>
            <a:r>
              <a:rPr b="0"/>
              <a:t> Inicio de clases sincrónicas BigBlueButton.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Estudiante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Seguimiento Personal:</a:t>
            </a:r>
            <a:r>
              <a:rPr b="0"/>
              <a:t> Consulta de notas parciales y boletines.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Tareas y Enlaces:</a:t>
            </a:r>
            <a:r>
              <a:rPr b="0"/>
              <a:t> Acceso a guías y clases virtuales en vivo.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Padre de Familia / Acudiente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Acompañamiento:</a:t>
            </a:r>
            <a:r>
              <a:rPr b="0"/>
              <a:t> Monitoreo del rendimiento académico de hijos.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Alertas:</a:t>
            </a:r>
            <a:r>
              <a:rPr b="0"/>
              <a:t> Trazabilidad de inasistencias y observaciones escolares.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Secretarías de Educación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Supervisión Territorial:</a:t>
            </a:r>
            <a:r>
              <a:rPr b="0"/>
              <a:t> Monitoreo de cobertura municipal.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Aprovisionamiento:</a:t>
            </a:r>
            <a:r>
              <a:rPr b="0"/>
              <a:t> Emisión de invitaciones oficiales a Rectores.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Aulas y Encuentros Virtuales: Integración BigBlueButton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Capacidades Verificadas en Software (Cliente API)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Orquestación Completa en FastAPI:</a:t>
            </a:r>
            <a:r>
              <a:rPr b="0"/>
              <a:t> Servicio `bbb_service.py` completamente programado y probado con pruebas automatizadas.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Salas Dinámicas:</a:t>
            </a:r>
            <a:r>
              <a:rPr b="0"/>
              <a:t> Creación de sesiones de videoconferencia vinculadas a asignaturas, grupos y sedes específicas.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Seguridad Criptográfica:</a:t>
            </a:r>
            <a:r>
              <a:rPr b="0"/>
              <a:t> Cálculo automático de checksums HMAC-SHA1 según el protocolo oficial de BigBlueButton.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Diferenciación de Roles:</a:t>
            </a:r>
            <a:r>
              <a:rPr b="0"/>
              <a:t> Emisión de contraseñas de moderador para docentes y de asistente para estudiantes.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Monitoreo de Sesión:</a:t>
            </a:r>
            <a:r>
              <a:rPr b="0"/>
              <a:t> Consulta de estado en tiempo real y cierre forzoso de salas al finalizar la sesión pedagógica.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6D28D9"/>
                </a:solidFill>
              </a:defRPr>
            </a:pPr>
            <a:r>
              <a:t>Aclaración Factual y Prerrequisito de Infraestructura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Infraestructura Multimedia Externa:</a:t>
            </a:r>
            <a:r>
              <a:rPr b="0"/>
              <a:t> PEVN no aloja internamente los servidores WebRTC ni procesa flujos de video/audio en el contenedor de la API.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Requisito Operativo:</a:t>
            </a:r>
            <a:r>
              <a:rPr b="0"/>
              <a:t> Para videoconferencias en vivo se requiere conectar el cliente PEVN a un clúster BigBlueButton externo dedicado.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Servidores TURN/STUN:</a:t>
            </a:r>
            <a:r>
              <a:rPr b="0"/>
              <a:t> Indispensables para salvar firewalls y redes móviles con NAT estricto en zonas rurales.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Propuesta:</a:t>
            </a:r>
            <a:r>
              <a:rPr b="0"/>
              <a:t> Acordar en la Fase 3 del piloto la infraestructura de pruebas para videoconferencia o habilitar solo módulos asíncronos en colegios con baja conectividad.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Arquitectura Técnica y Stack Tecnológico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Frontend SPA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React 18.3+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TypeScript 5.x</a:t>
            </a:r>
            <a:r>
              <a:rPr b="0"/>
              <a:t> (Modo estricto)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Vite 5 Bundler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TailwindCSS</a:t>
            </a:r>
            <a:r>
              <a:rPr b="0"/>
              <a:t> (Estilos locales)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Fuentes Externas:</a:t>
            </a:r>
            <a:r>
              <a:rPr b="0"/>
              <a:t> 100% autónomo y offline-ready.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Backend API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FastAPI (Python 3.12/3.14)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Uvicorn ASGI</a:t>
            </a:r>
            <a:r>
              <a:rPr b="0"/>
              <a:t> (Asíncrono)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Pydantic v2</a:t>
            </a:r>
            <a:r>
              <a:rPr b="0"/>
              <a:t> (Validación)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SQLAlchemy 2.0</a:t>
            </a:r>
            <a:r>
              <a:rPr b="0"/>
              <a:t> (Async)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asyncpg</a:t>
            </a:r>
            <a:r>
              <a:rPr b="0"/>
              <a:t> (Driver nativo)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Alembic</a:t>
            </a:r>
            <a:r>
              <a:rPr b="0"/>
              <a:t> (Migraciones)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Persistencia / Caché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PostgreSQL 15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Esquemas 3FN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Índices optimizados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Aislamiento por `institution_id`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Redis 7 In-Memory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Lista negra JWT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Rate limit distribuido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Seguridad / Integración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Argon2id / Bcrypt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JWT HMAC-SHA256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Anti-IDOR Enforcement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BigBlueButton API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DIVIPOLA / DANE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AuditLog Forense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Ciberseguridad, Privacidad y Aislamiento Multi-Tenant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Aislamiento Multi-Tenant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Discriminador Lógico Forzado:</a:t>
            </a:r>
            <a:r>
              <a:rPr b="0"/>
              <a:t> Toda consulta a sedes, docentes, alumnos o notas incluye obligatoriamente `WHERE institution_id = :id`.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Encapsulamiento:</a:t>
            </a:r>
            <a:r>
              <a:rPr b="0"/>
              <a:t> No se delega al programador; se aplica desde la capa base de repositorios.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Mitigación Anti-IDOR:</a:t>
            </a:r>
            <a:r>
              <a:rPr b="0"/>
              <a:t> Imposibilidad de acceder a registros de otros colegios manipulando parámetros en la URL.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Gestión de Identidades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Contraseñas Robustas:</a:t>
            </a:r>
            <a:r>
              <a:rPr b="0"/>
              <a:t> Hasheadas con Argon2id / bcrypt, eliminando el riesgo de tablas rainbow.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Tokens de Vida Corta:</a:t>
            </a:r>
            <a:r>
              <a:rPr b="0"/>
              <a:t> Access tokens JWT con vigencia de 15 a 30 minutos.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Revocación Inmediata:</a:t>
            </a:r>
            <a:r>
              <a:rPr b="0"/>
              <a:t> Lista negra en Redis 7 para invalidación instantánea de sesiones.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Protección de Fuerza Bruta:</a:t>
            </a:r>
            <a:r>
              <a:rPr b="0"/>
              <a:t> Bloqueo temporal por intentos fallidos reiterados.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Privacidad (Ley 1581 / 2012)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Datos de Menores:</a:t>
            </a:r>
            <a:r>
              <a:rPr b="0"/>
              <a:t> Tratamiento bajo estándar reforzado; finalidad pedagógica estricta.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Rastreadores:</a:t>
            </a:r>
            <a:r>
              <a:rPr b="0"/>
              <a:t> Sin analítica comercial, scripts de CDNs foráneas ni cesión de datos a privados.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Pistas Forenses:</a:t>
            </a:r>
            <a:r>
              <a:rPr b="0"/>
              <a:t> Auditoría inmutable de cambios con usuario, IP y timestamp UTC.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Gestión de Datos, Auditoría Forense y Operaciones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Pista de Auditoría Forense (`AuditLog`)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Estructura Inmutable:</a:t>
            </a:r>
            <a:r>
              <a:rPr b="0"/>
              <a:t> Cada modificación sensible registra un evento inmutable con UUID v4.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Metadatos Registrados: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`user_id` y `role`: Identidad y rol del ejecutor.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`institution_id`: Tenant educativo afectado.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`action`: Verbo de acción (`LOGIN`, `GRADE_CHANGE`, `CREATE`).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`table_name` y `record_id`: Objeto de datos alterado.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`ip_address` y `user_agent`: Origen de red para trazabilidad.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Defensa ante Disputas:</a:t>
            </a:r>
            <a:r>
              <a:rPr b="0"/>
              <a:t> Permite resolver formalmente reclamos sobre alteración de calificaciones o matrículas.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Continuidad Operativa y Respaldos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Estrategia de Backup (RPO / RTO):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0"/>
              <a:t>- </a:t>
            </a:r>
            <a:r>
              <a:rPr b="1">
                <a:solidFill>
                  <a:srgbClr val="0F2942"/>
                </a:solidFill>
              </a:rPr>
              <a:t>RPO &lt; 1 hora:</a:t>
            </a:r>
            <a:r>
              <a:rPr b="0"/>
              <a:t> Archivado continuo de transacciones WAL (Write-Ahead Logging).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0"/>
              <a:t>- </a:t>
            </a:r>
            <a:r>
              <a:rPr b="1">
                <a:solidFill>
                  <a:srgbClr val="0F2942"/>
                </a:solidFill>
              </a:rPr>
              <a:t>RTO &lt; 2 horas:</a:t>
            </a:r>
            <a:r>
              <a:rPr b="0"/>
              <a:t> Restauración automatizada de contenedor y esquema ante caída mayor.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Sanitización de Errores y Logs:</a:t>
            </a:r>
            <a:r>
              <a:rPr b="0"/>
              <a:t> Endurecimiento verificado en R8: los mensajes de fallo ocultan credenciales y contraseñas con máscaras `</a:t>
            </a:r>
            <a:r>
              <a:rPr b="1">
                <a:solidFill>
                  <a:srgbClr val="0F2942"/>
                </a:solidFill>
              </a:rPr>
              <a:t>*`.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Monitoreo y Salud:</a:t>
            </a:r>
            <a:r>
              <a:rPr b="0"/>
              <a:t> Endpoints `/api/v1/health` para sondas de liveness y readiness en clústeres Kubernetes.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Matriz de Estado Actual de Implementación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15 / 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03120"/>
                <a:gridCol w="3108960"/>
                <a:gridCol w="2590495"/>
              </a:tblGrid>
              <a:tr h="6662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Capacidad / Componente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Estado de Madurez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Evidencia en Repositorio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Demo en Vivo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Autenticación JWT y RBAC (9 Canónicos / 11 BD)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backend/app/core/security/interfaces.py</a:t>
                      </a:r>
                    </a:p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backend/app/models/role.py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(Verificado en local)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Aislamiento Multi-Tenant y Anti-IDOR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backend/app/services/institution_service.py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(Verificado en local)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Catálogo Territorial y DUE 2024 (Precarga)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D28D9"/>
                          </a:solidFill>
                        </a:defRPr>
                      </a:pPr>
                      <a:r>
                        <a:t>CATÁLOGO PRECARGADO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SODA cfw5-qzt5 / 96t6-cfw4</a:t>
                      </a:r>
                    </a:p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official_institution_catalog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(18.031 EE / 51.521 Sedes ref.)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Aprovisionamiento de Rectores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backend/app/services/rector_service.py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(Token 72h verificado)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Planilla de Notas y Asistencia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backend/app/services/grade_service.py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(Escala 1.0-5.0 activa)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Aulas Virtuales (BigBlueButton)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D28D9"/>
                          </a:solidFill>
                        </a:defRPr>
                      </a:pPr>
                      <a:r>
                        <a:t>CLIENTE IMPLEMENTADO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backend/app/services/bbb_service.py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Condicional (Requiere BBB externo)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Resultados de Pruebas y Aseguramiento de Calidad (R8)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Censo Dinámico de Pruebas (Pytest Suite)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747 Pruebas Recolectadas:</a:t>
            </a:r>
            <a:r>
              <a:rPr b="0"/>
              <a:t> Verificadas mediante el analizador dinámico AST en 72 archivos de prueba.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83 Pruebas de Integración con PostgreSQL 15:</a:t>
            </a:r>
            <a:r>
              <a:rPr b="0"/>
              <a:t> Ejecutadas contra base de datos relacional real en 6 archivos clave (transacciones, claves foráneas, aislamiento institucional).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664 Pruebas Unitarias y en Memoria:</a:t>
            </a:r>
            <a:r>
              <a:rPr b="0"/>
              <a:t> Distribuidas en 66 archivos de prueba (modelos Pydantic, utilitarios de seguridad, cálculo de notas).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Advertencias en Documentación:</a:t>
            </a:r>
            <a:r>
              <a:rPr b="0"/>
              <a:t> 41 comprobaciones automatizadas aprobadas con 100% de éxito (`audit_documentation.py`).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Batería Ejecutada en Ciclo Acotado (57 Pruebas — 100% PASS)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13 Pruebas de Teardown Hardening:</a:t>
            </a:r>
            <a:r>
              <a:rPr b="0"/>
              <a:t> Verificación de limpieza garantizada en bloque `finally` para evitar bloqueos en PostgreSQL (`test_teardown_hardening.py`).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12 Pruebas de Analizador de Censo:</a:t>
            </a:r>
            <a:r>
              <a:rPr b="0"/>
              <a:t> Validación reproducible de la taxonomía de pruebas (`test_census_analyzer.py`).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17 Pruebas de Aprovisionamiento Institucional:</a:t>
            </a:r>
            <a:r>
              <a:rPr b="0"/>
              <a:t> Creación de instituciones y validación DANE (`test_institution_provisioning.py`).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15 Pruebas de Aprovisionamiento de Rectores:</a:t>
            </a:r>
            <a:r>
              <a:rPr b="0"/>
              <a:t> Flujo de invitación y control de directivos (`test_nta10_rector_provisioning.py`).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690 Pruebas Restantes No Ejecutadas:</a:t>
            </a:r>
            <a:r>
              <a:rPr b="0"/>
              <a:t> Excluidas deliberadamente de este ciclo acotado para preservar aislamiento y estabilidad.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Frontend:</a:t>
            </a:r>
            <a:r>
              <a:rPr b="0"/>
              <a:t> `tsc --noEmit` completado con 0 errores y compilación `npm run build` exitosa.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Enfoque de Despliegue y Arquitectura de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Entorno Local Verificado vs. Producción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Entorno Actual Verificado: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Estación de trabajo Windows 11 / Linux WSL2.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PostgreSQL 15 local en puerto estándar.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Redis 7 en memoria para gestión de sesiones.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Uvicorn ASGI + Vite Dev Server.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Transparencia Técnica:</a:t>
            </a:r>
            <a:r>
              <a:rPr b="0"/>
              <a:t> La plataforma está probada y operativa en entorno local/servidor de laboratorio, pero </a:t>
            </a:r>
            <a:r>
              <a:rPr b="1">
                <a:solidFill>
                  <a:srgbClr val="0F2942"/>
                </a:solidFill>
              </a:rPr>
              <a:t>no se encuentra desplegada aún en un clúster de producción masiva nacional</a:t>
            </a:r>
            <a:r>
              <a:rPr b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Arquitectura Destino Sugerida para el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Contenerización Multi-Etapa: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Frontend servido mediante contenedor Nginx ultra-liviano.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Backend en imagen `python:3.12-slim` con usuario sin privilegios.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Orquestación en Kubernetes: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Horizontal Pod Autoscaler (HPA) según tráfico.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Despliegue de réplicas de lectura de PostgreSQL para consultas de boletines masivas.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Alojamiento en Nube de Gobierno o centros de datos certificados por MinTIC.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Brechas Identificadas, Riesgos y Decisiones Requeridas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Brechas Técnicas y Dependencias Abiertas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Clúster BigBlueButton Externo:</a:t>
            </a:r>
            <a:r>
              <a:rPr b="0"/>
              <a:t> Requiere provisión de servidores dedicados para streaming de video WebRTC.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Conexión Transaccional con SIMAT:</a:t>
            </a:r>
            <a:r>
              <a:rPr b="0"/>
              <a:t> No existe web service en vivo; se requiere convenio técnico y API Gateway con 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Firma Digital con Estampa Cronológica:</a:t>
            </a:r>
            <a:r>
              <a:rPr b="0"/>
              <a:t> Las notas se auditan en base de datos, pero no cuentan aún con firma digital PKI de la ONAC.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Auditoría de Accesibilidad WCAG 2.1 AA:</a:t>
            </a:r>
            <a:r>
              <a:rPr b="0"/>
              <a:t> Pendiente de certificación formal por laboratorio acreditado.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D97706"/>
                </a:solidFill>
              </a:defRPr>
            </a:pPr>
            <a:r>
              <a:t>Decisiones Requeridas de la Mesa Técnica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1:</a:t>
            </a:r>
            <a:r>
              <a:rPr b="0"/>
              <a:t> ¿Asumirá el MEN la titularidad del código como Bien Público Digital bajo licencia abierta?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2:</a:t>
            </a:r>
            <a:r>
              <a:rPr b="0"/>
              <a:t> ¿Qué mecanismo de interoperabilidad se habilitará para el intercambio de datos con SIMAT y DUE?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3:</a:t>
            </a:r>
            <a:r>
              <a:rPr b="0"/>
              <a:t> ¿Se autoriza el diseño conjunto de un piloto experimental controlado en 2 a 5 colegios oficiales?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4:</a:t>
            </a:r>
            <a:r>
              <a:rPr b="0"/>
              <a:t> ¿Qué lineamientos de infraestructura y ciberseguridad gubernamental deben armonizarse en Fase 2?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Propuesta de Colaboración Técnica en 4 Fases (Decision Gates)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1: Mesa Técnica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2 a 4 semanas.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Revisión de arquitectura.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Inspección de repositorios.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Definición de requisitos.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Compuerta 1:</a:t>
            </a:r>
            <a:r>
              <a:rPr b="0"/>
              <a:t> Dictamen técnico de viabilidad.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2: Seguridad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4 a 6 semanas.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Auditoría SAST / DAST.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Pruebas de estrés y carga.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Contratos de API SIMAT.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Compuerta 2:</a:t>
            </a:r>
            <a:r>
              <a:rPr b="0"/>
              <a:t> Aval de seguridad y carga.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3: Piloto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1 periodo (10-12 semanas).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Muestra:</a:t>
            </a:r>
            <a:r>
              <a:rPr b="0"/>
              <a:t> 2 a 5 colegios.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Operación paralela.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Matrícula y notas.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Compuerta 3:</a:t>
            </a:r>
            <a:r>
              <a:rPr b="0"/>
              <a:t> Dictamen de adopción y métricas.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4: Consolidación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A definir por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Transferencia formal.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Escalabilidad nacional.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Soberanía digital.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Hito Final:</a:t>
            </a:r>
            <a:r>
              <a:rPr b="0"/>
              <a:t> Adopción como Bien Público Digital.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Beneficios Esperados y Métricas de Impacto Propuestas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Beneficios Públicos Proyectados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Costo Marginal:</a:t>
            </a:r>
            <a:r>
              <a:rPr b="0"/>
              <a:t> Eliminación del cobro por alumno en software de gestión académica.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Equidad en Sedes Rurales:</a:t>
            </a:r>
            <a:r>
              <a:rPr b="0"/>
              <a:t> Herramienta liviana que opera sobre enlaces de bajo ancho de banda sin caídas.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Trazabilidad Forense:</a:t>
            </a:r>
            <a:r>
              <a:rPr b="0"/>
              <a:t> Reducción a cero de quejas por adulteración no autorizada de calificaciones escolares.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Soberanía Tecnológica:</a:t>
            </a:r>
            <a:r>
              <a:rPr b="0"/>
              <a:t> El Estado mantiene control pleno del código, esquemas de datos y evolución técnica.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Métricas Cuantitativas para el Piloto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Tasa de Adopción Docente:</a:t>
            </a:r>
            <a:r>
              <a:rPr b="0"/>
              <a:t> Porcentaje de docentes que registran notas de forma autónoma (Meta: &gt; 85%).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Tiempo de Carga en Red Rural:</a:t>
            </a:r>
            <a:r>
              <a:rPr b="0"/>
              <a:t> Latencia promedio inferior a 1.5 segundos en enlaces de baja velocidad.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Incidencias de Seguridad:</a:t>
            </a:r>
            <a:r>
              <a:rPr b="0"/>
              <a:t> Cero eventos de acceso cruzado entre instituciones (Cross-tenant leaks = 0).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Satisfacción de Rectores y Familias:</a:t>
            </a:r>
            <a:r>
              <a:rPr b="0"/>
              <a:t> Evaluación de usabilidad superior al 80% en encuestas de cierre.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Próximos Pasos Solicitados y Preguntas para el 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Próximos Pasos Inmediatos Solicitados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Instalación de la Mesa Técnica:</a:t>
            </a:r>
            <a:r>
              <a:rPr b="0"/>
              <a:t> Formalizar un canal de trabajo entre el equipo de PEVN y la Oficina de Tecnología del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Acceso a Repositorios:</a:t>
            </a:r>
            <a:r>
              <a:rPr b="0"/>
              <a:t> Entrega formal del código fuente completo para inspección técnica por auditores del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Taller de Arquitectura:</a:t>
            </a:r>
            <a:r>
              <a:rPr b="0"/>
              <a:t> Demostración en vivo de los flujos de aprovisionamiento, calificaciones y base de datos relacional.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Definición de Parámetros de Piloto:</a:t>
            </a:r>
            <a:r>
              <a:rPr b="0"/>
              <a:t> Selección concertada de 2 a 5 colegios oficiales para pruebas de campo.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D68A7"/>
                </a:solidFill>
              </a:defRPr>
            </a:pPr>
            <a:r>
              <a:t>Preguntas Guía para el Equipo de Tecnología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1:</a:t>
            </a:r>
            <a:r>
              <a:rPr b="0"/>
              <a:t> ¿Cuál es la ventana de oportunidad institucional para adelantar una prueba de concepto o piloto en 2026/2027?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2:</a:t>
            </a:r>
            <a:r>
              <a:rPr b="0"/>
              <a:t> ¿Qué estándares de contenedor o nube pública (ej. AWS, Azure, OCI o centros de datos MinTIC) prefiere el MEN?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3:</a:t>
            </a:r>
            <a:r>
              <a:rPr b="0"/>
              <a:t> ¿Qué dependencia liderará la definición de contratos de interoperabilidad para la integración con SIMAT?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4:</a:t>
            </a:r>
            <a:r>
              <a:rPr b="0"/>
              <a:t> ¿Qué requisitos adicionales de ciberseguridad exige el MEN antes de autorizar un piloto experimental?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63554"/>
          </a:solidFill>
          <a:ln w="19050"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C59B27"/>
                </a:solidFill>
              </a:defRPr>
            </a:pPr>
            <a:r>
              <a:t>COMPROMISO CON LA EDUCACIÓN PÚBLICA DE COLOMBIA</a:t>
            </a:r>
          </a:p>
          <a:p>
            <a:pPr>
              <a:spcAft>
                <a:spcPts val="1000"/>
              </a:spcAft>
              <a:defRPr sz="2800" b="1">
                <a:solidFill>
                  <a:srgbClr val="FFFFFF"/>
                </a:solidFill>
              </a:defRPr>
            </a:pPr>
            <a:r>
              <a:t>Plataforma Educativa Virtual Nacional (PEVN)</a:t>
            </a:r>
          </a:p>
          <a:p>
            <a:pPr>
              <a:spcAft>
                <a:spcPts val="2400"/>
              </a:spcAft>
              <a:defRPr sz="1600">
                <a:solidFill>
                  <a:srgbClr val="BED7F0"/>
                </a:solidFill>
              </a:defRPr>
            </a:pPr>
            <a:r>
              <a:t>Un Bien Público Digital al Servicio de los Territorios y la Comunidad Educativa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Liderazgo Técnico y Contacto Institucional:</a:t>
            </a:r>
            <a:br/>
            <a:r>
              <a:t>Juan Carlos Castro Narváez</a:t>
            </a:r>
            <a:br/>
            <a:r>
              <a:t>Desarrollador Principal y Consultor de Transformación Digital Educativa</a:t>
            </a:r>
            <a:br/>
            <a:br/>
            <a:r>
              <a:t>Octubre 2026 — Bogotá D.C., Colombia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